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handoutMasterIdLst>
    <p:handoutMasterId r:id="rId15"/>
  </p:handoutMasterIdLst>
  <p:sldIdLst>
    <p:sldId id="256" r:id="rId5"/>
    <p:sldId id="257" r:id="rId6"/>
    <p:sldId id="1579" r:id="rId7"/>
    <p:sldId id="1583" r:id="rId8"/>
    <p:sldId id="1582" r:id="rId9"/>
    <p:sldId id="1584" r:id="rId10"/>
    <p:sldId id="1581" r:id="rId11"/>
    <p:sldId id="1580"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2F3"/>
    <a:srgbClr val="EFF0F1"/>
    <a:srgbClr val="E9ECEF"/>
    <a:srgbClr val="EDEFEF"/>
    <a:srgbClr val="F9FAFA"/>
    <a:srgbClr val="D5D7D7"/>
    <a:srgbClr val="AFB7B7"/>
    <a:srgbClr val="2A38D5"/>
    <a:srgbClr val="09090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FB6DA5-9676-3753-8920-5AE1642B19ED}" v="204" dt="2026-02-04T17:10:36.0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2/4/2026</a:t>
            </a:fld>
            <a:endParaRPr lang="en-US"/>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80" y="441434"/>
            <a:ext cx="7550920" cy="3743005"/>
          </a:xfrm>
        </p:spPr>
        <p:txBody>
          <a:bodyPr anchor="t">
            <a:normAutofit/>
          </a:bodyPr>
          <a:lstStyle>
            <a:lvl1pPr algn="l">
              <a:defRPr sz="80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9135837" cy="775044"/>
          </a:xfrm>
        </p:spPr>
        <p:txBody>
          <a:bodyPr anchor="ctr">
            <a:normAutofit/>
          </a:bodyPr>
          <a:lstStyle>
            <a:lvl1pPr marL="0" indent="0" algn="l">
              <a:buNone/>
              <a:defRPr sz="2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39F097E-7A3A-4F11-9373-FCEF70D478AE}"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389844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anchor="b">
            <a:normAutofit/>
          </a:bodyPr>
          <a:lstStyle>
            <a:lvl1pPr algn="l">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90A7993E-BF8D-483D-835F-218BE3FC2648}"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779543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anchor="b">
            <a:normAutofit/>
          </a:bodyPr>
          <a:lstStyle>
            <a:lvl1pPr algn="l">
              <a:defRPr sz="36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anchor="t">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 y="0"/>
            <a:ext cx="12191999" cy="4944351"/>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0A5881F7-61E7-464A-B25B-D06EF371E7BB}" type="datetime1">
              <a:rPr lang="en-US" smtClean="0"/>
              <a:t>2/4/2026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userDrawn="1"/>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anchor="t">
            <a:normAutofit/>
          </a:bodyPr>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15766" y="0"/>
            <a:ext cx="6663325"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6EAE0971-16E1-4804-BCF7-2D4AE159BC5F}"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userDrawn="1"/>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anchor="t">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anchor="ct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029201" y="0"/>
            <a:ext cx="7162800" cy="6858000"/>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5017E961-8070-4076-BC89-E9A21E8B1DDB}" type="datetime1">
              <a:rPr lang="en-US" smtClean="0"/>
              <a:t>2/4/2026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6D593C-5636-A3D4-D0B4-7C5D4B4D6957}"/>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lumMod val="20000"/>
                    <a:lumOff val="80000"/>
                  </a:schemeClr>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F34549CE-172D-4858-ACF7-34679969C52A}"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userDrawn="1">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8" y="3507830"/>
            <a:ext cx="7589521" cy="2944368"/>
          </a:xfrm>
        </p:spPr>
        <p:txBody>
          <a:bodyPr anchor="b">
            <a:normAutofit/>
          </a:bodyPr>
          <a:lstStyle>
            <a:lvl1pPr algn="l">
              <a:defRPr sz="8000">
                <a:solidFill>
                  <a:schemeClr val="accent1"/>
                </a:solidFill>
              </a:defRPr>
            </a:lvl1pPr>
          </a:lstStyle>
          <a:p>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34549CE-172D-4858-ACF7-34679969C52A}" type="datetime1">
              <a:rPr lang="en-US" smtClean="0"/>
              <a:pPr/>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userDrawn="1">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6" y="3231931"/>
            <a:ext cx="5200938"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07E5ED5B-F431-4291-9350-DE25B4E24A2B}" type="datetime1">
              <a:rPr lang="en-US" smtClean="0"/>
              <a:t>2/4/2026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hoto">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userDrawn="1"/>
        </p:nvSpPr>
        <p:spPr>
          <a:xfrm>
            <a:off x="-1" y="1"/>
            <a:ext cx="12192001" cy="2892972"/>
          </a:xfrm>
          <a:prstGeom prst="rect">
            <a:avLst/>
          </a:prstGeom>
          <a:ln>
            <a:noFill/>
          </a:ln>
          <a:effectLst>
            <a:outerShdw blurRad="266700" dist="25400" dir="5400000" sx="96000" sy="96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57200"/>
            <a:ext cx="9506608" cy="2215056"/>
          </a:xfrm>
        </p:spPr>
        <p:txBody>
          <a:bodyPr anchor="b">
            <a:no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p:nvPr>
        </p:nvSpPr>
        <p:spPr>
          <a:xfrm>
            <a:off x="0" y="2892425"/>
            <a:ext cx="5888421" cy="3965575"/>
          </a:xfr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200"/>
            </a:lvl1pPr>
            <a:lvl2pPr>
              <a:defRPr sz="2000"/>
            </a:lvl2pPr>
            <a:lvl3pPr>
              <a:defRPr sz="1800"/>
            </a:lvl3pPr>
            <a:lvl4pPr>
              <a:defRPr sz="16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07E5ED5B-F431-4291-9350-DE25B4E24A2B}" type="datetime1">
              <a:rPr lang="en-US" smtClean="0"/>
              <a:t>2/4/2026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7"/>
            <a:ext cx="11924209" cy="5621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A1E9370-9C4A-4A34-917A-E6D78BC68C7C}"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05126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378562" y="413752"/>
            <a:ext cx="11479378" cy="6030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A0AAD6C-AC8D-431F-8590-AA5F2823E2A7}"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88651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B96EF1D-0703-4248-81C2-B6D58E3222B9}"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userDrawn="1"/>
        </p:nvSpPr>
        <p:spPr>
          <a:xfrm>
            <a:off x="5158292" y="0"/>
            <a:ext cx="703370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EDC2E61-84D8-4124-A60F-8C1591231F2F}"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userDrawn="1"/>
        </p:nvSpPr>
        <p:spPr>
          <a:xfrm>
            <a:off x="1" y="0"/>
            <a:ext cx="4998404" cy="6858000"/>
          </a:xfrm>
          <a:prstGeom prst="rect">
            <a:avLst/>
          </a:prstGeom>
          <a:ln>
            <a:noFill/>
          </a:ln>
          <a:effectLst>
            <a:outerShdw blurRad="304800" dist="508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anchor="t">
            <a:normAutofit/>
          </a:bodyPr>
          <a:lstStyle>
            <a:lvl1pPr>
              <a:defRPr sz="40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D86AB-AC02-447A-B1D9-D29255284012}"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userDrawn="1"/>
        </p:nvSpPr>
        <p:spPr>
          <a:xfrm>
            <a:off x="4998404" y="0"/>
            <a:ext cx="7193595"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56CB269-0EA9-4840-8B00-D6F4D5623A66}"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userDrawn="1"/>
        </p:nvSpPr>
        <p:spPr>
          <a:xfrm>
            <a:off x="0" y="1"/>
            <a:ext cx="4998404" cy="6858000"/>
          </a:xfrm>
          <a:prstGeom prst="rect">
            <a:avLst/>
          </a:prstGeom>
          <a:ln>
            <a:noFill/>
          </a:ln>
          <a:effectLst>
            <a:outerShdw blurRad="292100" dist="25400" dir="5400000" sx="95000" sy="95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832CF09-9C6A-488F-912B-7484594F36CA}"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8">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userDrawn="1"/>
        </p:nvSpPr>
        <p:spPr>
          <a:xfrm>
            <a:off x="0" y="0"/>
            <a:ext cx="3973690" cy="6858000"/>
          </a:xfrm>
          <a:prstGeom prst="rect">
            <a:avLst/>
          </a:prstGeom>
          <a:ln>
            <a:noFill/>
          </a:ln>
          <a:effectLst>
            <a:outerShdw blurRad="254000" dist="25400" dir="540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A8A2DD0-471C-4A47-B83D-2C9E45A89DDD}"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userDrawn="1"/>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1040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CE4FD0D0-EFA3-4773-9A17-8984A9F3894E}" type="datetime1">
              <a:rPr lang="en-US" smtClean="0"/>
              <a:t>2/4/2026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userDrawn="1"/>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userDrawn="1"/>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1EDE0F73-15D4-4675-AC83-2116B6713E0D}" type="datetime1">
              <a:rPr lang="en-US" smtClean="0"/>
              <a:t>2/4/2026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7214047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userDrawn="1"/>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19930"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0A2676FB-3D7D-40C8-BF49-5420830A3578}" type="datetime1">
              <a:rPr lang="en-US" smtClean="0"/>
              <a:t>2/4/2026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userDrawn="1"/>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4509B7BD-ED9F-4BE8-9CB0-6580F3DA5AD9}" type="datetime1">
              <a:rPr lang="en-US" smtClean="0"/>
              <a:t>2/4/2026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187197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userDrawn="1"/>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721068"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D1E4CDFE-4149-497F-9AB2-FC1DA668517A}" type="datetime1">
              <a:rPr lang="en-US" smtClean="0"/>
              <a:pPr/>
              <a:t>2/4/2026</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userDrawn="1"/>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530A2420-C19C-4EDE-B6F5-403698632D18}"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6"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3691800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userDrawn="1"/>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9E86C564-3F7A-4713-A853-F25E5506815F}"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666014" y="0"/>
            <a:ext cx="652598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310182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userDrawn="1"/>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7542725"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AAF53DBC-D325-47EB-9AE2-DBA8CFEB104F}" type="datetime1">
              <a:rPr lang="en-US" smtClean="0"/>
              <a:t>2/4/2026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userDrawn="1"/>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userDrawn="1"/>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anchor="b">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17CB1A90-8BC5-45FC-8522-57E9740F0D09}"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Tree>
    <p:extLst>
      <p:ext uri="{BB962C8B-B14F-4D97-AF65-F5344CB8AC3E}">
        <p14:creationId xmlns:p14="http://schemas.microsoft.com/office/powerpoint/2010/main" val="21271898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userDrawn="1"/>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820774" cy="685800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B3B5E29B-D4CF-40DB-8415-CDEF746A4884}"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userDrawn="1"/>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12192000" cy="4635132"/>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49A0EB0-1A85-4415-B0DD-DB56CB89A1A3}"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userDrawn="1"/>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639A7FB-F6CB-4A83-AB01-DE96AD12BDE0}"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1347108"/>
            <a:ext cx="6831915" cy="5510891"/>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D43F2FFC-4D61-478E-A5DA-B134F1C3F459}"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0" y="0"/>
            <a:ext cx="5565422"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2" y="2175642"/>
            <a:ext cx="4380271" cy="4124756"/>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77EF4E6-0835-4A9E-AB77-03E72BA07261}" type="datetime1">
              <a:rPr lang="en-US" smtClean="0"/>
              <a:t>2/4/2026</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userDrawn="1"/>
        </p:nvSpPr>
        <p:spPr>
          <a:xfrm>
            <a:off x="-1" y="0"/>
            <a:ext cx="5584207"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2175642"/>
            <a:ext cx="5584206" cy="4682358"/>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A77EF4E6-0835-4A9E-AB77-03E72BA07261}"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userDrawn="1"/>
        </p:nvSpPr>
        <p:spPr>
          <a:xfrm>
            <a:off x="1" y="-1"/>
            <a:ext cx="4612921" cy="6858001"/>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59503" y="2295144"/>
            <a:ext cx="3515063" cy="4005253"/>
          </a:xfrm>
          <a:blipFill>
            <a:blip r:embed="rId2" cstate="screen">
              <a:alphaModFix amt="70000"/>
              <a:extLst>
                <a:ext uri="{28A0092B-C50C-407E-A947-70E740481C1C}">
                  <a14:useLocalDpi xmlns:a14="http://schemas.microsoft.com/office/drawing/2010/main"/>
                </a:ext>
              </a:extLst>
            </a:blip>
            <a:stretch>
              <a:fillRect/>
            </a:stretch>
          </a:blipFill>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621BA2-1729-4125-80E1-73B10B108A05}" type="datetime1">
              <a:rPr lang="en-US" smtClean="0"/>
              <a:t>2/4/2026</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Big Numb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0CD10E-DCDC-D077-124D-D9AD1F8B1CF2}"/>
              </a:ext>
              <a:ext uri="{C183D7F6-B498-43B3-948B-1728B52AA6E4}">
                <adec:decorative xmlns:adec="http://schemas.microsoft.com/office/drawing/2017/decorative" val="1"/>
              </a:ext>
            </a:extLst>
          </p:cNvPr>
          <p:cNvSpPr/>
          <p:nvPr userDrawn="1"/>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1075198"/>
            <a:ext cx="7064188" cy="4707604"/>
          </a:xfrm>
        </p:spPr>
        <p:txBody>
          <a:bodyPr anchor="ctr">
            <a:normAutofit/>
          </a:bodyPr>
          <a:lstStyle>
            <a:lvl1pPr algn="ctr">
              <a:defRPr sz="225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512740" y="1487780"/>
            <a:ext cx="3193022" cy="3882441"/>
          </a:xfrm>
        </p:spPr>
        <p:txBody>
          <a:bodyPr anchor="ctr">
            <a:normAutofit/>
          </a:bodyPr>
          <a:lstStyle>
            <a:lvl1pPr marL="0" indent="0" algn="l">
              <a:lnSpc>
                <a:spcPct val="110000"/>
              </a:lnSpc>
              <a:buNone/>
              <a:defRPr sz="2800" cap="none"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AD87098E-FA98-43EB-9FC8-AACA19803591}"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544685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Big Number 2">
    <p:bg>
      <p:bgRef idx="1001">
        <a:schemeClr val="bg1"/>
      </p:bgRef>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A375349-64D8-04FF-E6A4-A9F3EA3F3B83}"/>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accent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201266"/>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0484433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34E64F7-E11B-F55A-F8C7-2938BC5485B0}"/>
              </a:ext>
              <a:ext uri="{C183D7F6-B498-43B3-948B-1728B52AA6E4}">
                <adec:decorative xmlns:adec="http://schemas.microsoft.com/office/drawing/2017/decorative" val="1"/>
              </a:ext>
            </a:extLst>
          </p:cNvPr>
          <p:cNvSpPr/>
          <p:nvPr userDrawn="1"/>
        </p:nvSpPr>
        <p:spPr>
          <a:xfrm>
            <a:off x="1" y="0"/>
            <a:ext cx="12191999" cy="4939393"/>
          </a:xfrm>
          <a:prstGeom prst="rect">
            <a:avLst/>
          </a:prstGeom>
          <a:solidFill>
            <a:schemeClr val="tx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78426"/>
            <a:ext cx="10543032" cy="3677264"/>
          </a:xfrm>
        </p:spPr>
        <p:txBody>
          <a:bodyPr anchor="b">
            <a:normAutofit/>
          </a:bodyPr>
          <a:lstStyle>
            <a:lvl1pPr algn="ctr">
              <a:defRPr sz="23200">
                <a:solidFill>
                  <a:schemeClr val="bg2"/>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229032" y="5321789"/>
            <a:ext cx="9733936" cy="1153814"/>
          </a:xfrm>
        </p:spPr>
        <p:txBody>
          <a:bodyPr anchor="ctr">
            <a:normAutofit/>
          </a:bodyPr>
          <a:lstStyle>
            <a:lvl1pPr marL="0" indent="0" algn="ctr">
              <a:lnSpc>
                <a:spcPct val="110000"/>
              </a:lnSpc>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09B7BD5-FE6F-4EB1-9820-1E0793986809}"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52096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userDrawn="1"/>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BEDB6B-97AA-46A7-9A9F-DF3F9C8FC710}" type="datetime1">
              <a:rPr lang="en-US" smtClean="0"/>
              <a:pPr/>
              <a:t>2/4/2026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tatement 3">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CB9B519-1D75-197C-822E-7971723CEFF9}"/>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Autofit/>
          </a:bodyPr>
          <a:lstStyle>
            <a:lvl1pPr marL="0" indent="0">
              <a:lnSpc>
                <a:spcPct val="100000"/>
              </a:lnSpc>
              <a:buNone/>
              <a:defRPr sz="5000" b="1">
                <a:solidFill>
                  <a:schemeClr val="bg1"/>
                </a:solidFill>
              </a:defRPr>
            </a:lvl1pPr>
            <a:lvl2pPr marL="228600" indent="0">
              <a:lnSpc>
                <a:spcPct val="100000"/>
              </a:lnSpc>
              <a:buNone/>
              <a:defRPr sz="4400" b="1">
                <a:solidFill>
                  <a:schemeClr val="bg1"/>
                </a:solidFill>
              </a:defRPr>
            </a:lvl2pPr>
            <a:lvl3pPr marL="457200" indent="0">
              <a:lnSpc>
                <a:spcPct val="100000"/>
              </a:lnSpc>
              <a:buNone/>
              <a:defRPr sz="4000" b="1">
                <a:solidFill>
                  <a:schemeClr val="bg1"/>
                </a:solidFill>
              </a:defRPr>
            </a:lvl3pPr>
            <a:lvl4pPr marL="685800" indent="0">
              <a:lnSpc>
                <a:spcPct val="100000"/>
              </a:lnSpc>
              <a:buNone/>
              <a:defRPr sz="3600" b="1">
                <a:solidFill>
                  <a:schemeClr val="bg1"/>
                </a:solidFill>
              </a:defRPr>
            </a:lvl4pPr>
            <a:lvl5pPr marL="914400" indent="0">
              <a:lnSpc>
                <a:spcPct val="100000"/>
              </a:lnSpc>
              <a:buNone/>
              <a:defRPr sz="3200" b="1">
                <a:solidFill>
                  <a:schemeClr val="bg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bg1"/>
                </a:solidFill>
              </a:defRPr>
            </a:lvl1pPr>
          </a:lstStyle>
          <a:p>
            <a:fld id="{7EB50A41-BBB0-4E99-933A-0D54E921223C}" type="datetime1">
              <a:rPr lang="en-US" smtClean="0"/>
              <a:pPr/>
              <a:t>2/4/2026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42E0AEC-8368-EAD3-F78A-8DD00AD5F4BD}"/>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334072" y="706212"/>
            <a:ext cx="9473189" cy="3526971"/>
          </a:xfrm>
        </p:spPr>
        <p:txBody>
          <a:bodyPr anchor="ctr">
            <a:normAutofit/>
          </a:bodyPr>
          <a:lstStyle>
            <a:lvl1pPr marL="173736" indent="-173736" algn="l">
              <a:lnSpc>
                <a:spcPct val="100000"/>
              </a:lnSpc>
              <a:defRPr sz="5400" b="0">
                <a:solidFill>
                  <a:schemeClr val="accent1"/>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518800" y="5592286"/>
            <a:ext cx="8991270" cy="612820"/>
          </a:xfrm>
        </p:spPr>
        <p:txBody>
          <a:bodyPr anchor="ctr">
            <a:normAutofit/>
          </a:bodyPr>
          <a:lstStyle>
            <a:lvl1pPr marL="0" indent="0" algn="l">
              <a:buNone/>
              <a:defRPr sz="2200" b="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91AEBA9-38A4-4A5F-86B3-1B3385D5906B}"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79565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Quot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0835389-478C-7F74-F6E0-89AF30735CF5}"/>
              </a:ext>
              <a:ext uri="{C183D7F6-B498-43B3-948B-1728B52AA6E4}">
                <adec:decorative xmlns:adec="http://schemas.microsoft.com/office/drawing/2017/decorative" val="1"/>
              </a:ext>
            </a:extLst>
          </p:cNvPr>
          <p:cNvSpPr/>
          <p:nvPr userDrawn="1"/>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94270"/>
            <a:ext cx="9116569" cy="3781168"/>
          </a:xfrm>
        </p:spPr>
        <p:txBody>
          <a:bodyPr anchor="t">
            <a:normAutofit/>
          </a:bodyPr>
          <a:lstStyle>
            <a:lvl1pPr marL="173736" indent="-173736" algn="l">
              <a:lnSpc>
                <a:spcPct val="100000"/>
              </a:lnSpc>
              <a:defRPr sz="4400" b="0">
                <a:solidFill>
                  <a:schemeClr val="tx2"/>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604982" y="5520007"/>
            <a:ext cx="8968785" cy="757379"/>
          </a:xfrm>
        </p:spPr>
        <p:txBody>
          <a:bodyPr anchor="ctr">
            <a:normAutofit/>
          </a:bodyPr>
          <a:lstStyle>
            <a:lvl1pPr marL="0" indent="0" algn="l">
              <a:buNone/>
              <a:defRPr sz="2200" b="1">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7436DFB-2C6F-4036-AEBC-4AAB690F37DF}"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7860291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 preserve="1">
  <p:cSld name="Quote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272016" cy="3291840"/>
          </a:xfrm>
        </p:spPr>
        <p:txBody>
          <a:bodyPr anchor="ctr">
            <a:normAutofit/>
          </a:bodyPr>
          <a:lstStyle>
            <a:lvl1pPr marL="155448" indent="-155448"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647397" y="5349240"/>
            <a:ext cx="9088027" cy="466344"/>
          </a:xfrm>
        </p:spPr>
        <p:txBody>
          <a:bodyPr anchor="ctr">
            <a:normAutofit/>
          </a:bodyPr>
          <a:lstStyle>
            <a:lvl1pPr marL="0" indent="0" algn="l">
              <a:buNone/>
              <a:defRPr sz="2200" b="1">
                <a:solidFill>
                  <a:schemeClr val="accent1">
                    <a:lumMod val="40000"/>
                    <a:lumOff val="6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1B3A76E-6AB8-4A60-98AF-4814163FD320}"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6932447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457199" y="1663264"/>
            <a:ext cx="5218931"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1663264"/>
            <a:ext cx="5181600" cy="4672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91D92A-FD65-4630-8EF9-DCFDE3EFD6C4}"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userDrawn="1"/>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595300"/>
            <a:ext cx="5262890"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457199" y="2271365"/>
            <a:ext cx="5262891"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595300"/>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72200" y="2271365"/>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4373491-7B77-49C6-AD2D-C13ED48C2EBA}" type="datetime1">
              <a:rPr lang="en-US" smtClean="0"/>
              <a:t>2/4/2026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B7FDED9-56B8-4F05-AB54-2CC756DCB8EE}" type="datetime1">
              <a:rPr lang="en-US" smtClean="0"/>
              <a:t>2/4/2026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5466C3F-BF2A-44FE-B216-339938B7BC3B}" type="datetime1">
              <a:rPr lang="en-US" smtClean="0"/>
              <a:t>2/4/2026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userDrawn="1"/>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EDF8AE2-251E-4D0E-B879-45475D6F38C8}" type="datetime1">
              <a:rPr lang="en-US" smtClean="0"/>
              <a:t>2/4/2026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userDrawn="1"/>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C8E2833-867D-45B3-9E62-3A71290884E3}" type="datetime1">
              <a:rPr lang="en-US" smtClean="0"/>
              <a:t>2/4/2026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163207" y="557785"/>
            <a:ext cx="6471008" cy="5742430"/>
          </a:xfr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clusion">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A16F33D-BC3B-B205-F219-8E637AE65197}"/>
              </a:ext>
            </a:extLst>
          </p:cNvPr>
          <p:cNvSpPr/>
          <p:nvPr userDrawn="1"/>
        </p:nvSpPr>
        <p:spPr>
          <a:xfrm>
            <a:off x="0" y="0"/>
            <a:ext cx="12191999"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userDrawn="1"/>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499834" cy="1434662"/>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AA654AB-C2AE-417E-9E7B-1A38F8EEF46E}" type="datetime1">
              <a:rPr lang="en-US" smtClean="0"/>
              <a:pPr/>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userDrawn="1"/>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E59424E-2F7C-42CF-80D9-5F65DA459DD0}" type="datetime1">
              <a:rPr lang="en-US" smtClean="0"/>
              <a:t>2/4/2026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2/4/2026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985751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78" y="550217"/>
            <a:ext cx="3657603" cy="1453896"/>
          </a:xfr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31521" y="2295144"/>
            <a:ext cx="3490176" cy="4041648"/>
          </a:xfrm>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2/4/2026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5830843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D1E4CDFE-4149-497F-9AB2-FC1DA668517A}" type="datetime1">
              <a:rPr lang="en-US" smtClean="0"/>
              <a:pPr/>
              <a:t>2/4/2026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675" r:id="rId3"/>
    <p:sldLayoutId id="2147483712" r:id="rId4"/>
    <p:sldLayoutId id="2147483698" r:id="rId5"/>
    <p:sldLayoutId id="2147483728" r:id="rId6"/>
    <p:sldLayoutId id="2147483761" r:id="rId7"/>
    <p:sldLayoutId id="2147483760" r:id="rId8"/>
    <p:sldLayoutId id="2147483786" r:id="rId9"/>
    <p:sldLayoutId id="2147483788" r:id="rId10"/>
    <p:sldLayoutId id="2147483713" r:id="rId11"/>
    <p:sldLayoutId id="2147483729" r:id="rId12"/>
    <p:sldLayoutId id="2147483662" r:id="rId13"/>
    <p:sldLayoutId id="2147483767" r:id="rId14"/>
    <p:sldLayoutId id="2147483679" r:id="rId15"/>
    <p:sldLayoutId id="2147483680" r:id="rId16"/>
    <p:sldLayoutId id="2147483681" r:id="rId17"/>
    <p:sldLayoutId id="2147483682" r:id="rId18"/>
    <p:sldLayoutId id="2147483706" r:id="rId19"/>
    <p:sldLayoutId id="2147483789" r:id="rId20"/>
    <p:sldLayoutId id="2147483689" r:id="rId21"/>
    <p:sldLayoutId id="2147483690" r:id="rId22"/>
    <p:sldLayoutId id="2147483707" r:id="rId23"/>
    <p:sldLayoutId id="2147483708" r:id="rId24"/>
    <p:sldLayoutId id="2147483692" r:id="rId25"/>
    <p:sldLayoutId id="2147483691" r:id="rId26"/>
    <p:sldLayoutId id="2147483733" r:id="rId27"/>
    <p:sldLayoutId id="2147483731" r:id="rId28"/>
    <p:sldLayoutId id="2147483780" r:id="rId29"/>
    <p:sldLayoutId id="2147483694" r:id="rId30"/>
    <p:sldLayoutId id="2147483726" r:id="rId31"/>
    <p:sldLayoutId id="2147483693" r:id="rId32"/>
    <p:sldLayoutId id="2147483672" r:id="rId33"/>
    <p:sldLayoutId id="2147483756" r:id="rId34"/>
    <p:sldLayoutId id="2147483757" r:id="rId35"/>
    <p:sldLayoutId id="2147483696" r:id="rId36"/>
    <p:sldLayoutId id="2147483752" r:id="rId37"/>
    <p:sldLayoutId id="2147483758" r:id="rId38"/>
    <p:sldLayoutId id="2147483753" r:id="rId39"/>
    <p:sldLayoutId id="2147483747" r:id="rId40"/>
    <p:sldLayoutId id="2147483759" r:id="rId41"/>
    <p:sldLayoutId id="2147483742" r:id="rId42"/>
    <p:sldLayoutId id="2147483740" r:id="rId43"/>
    <p:sldLayoutId id="2147483743" r:id="rId44"/>
    <p:sldLayoutId id="2147483664" r:id="rId45"/>
    <p:sldLayoutId id="2147483665" r:id="rId46"/>
    <p:sldLayoutId id="2147483666" r:id="rId47"/>
    <p:sldLayoutId id="2147483667" r:id="rId48"/>
    <p:sldLayoutId id="2147483668" r:id="rId49"/>
    <p:sldLayoutId id="2147483784" r:id="rId50"/>
    <p:sldLayoutId id="2147483783" r:id="rId51"/>
    <p:sldLayoutId id="2147483687" r:id="rId52"/>
    <p:sldLayoutId id="2147483790" r:id="rId53"/>
    <p:sldLayoutId id="2147483791" r:id="rId54"/>
  </p:sldLayoutIdLst>
  <p:hf hdr="0"/>
  <p:txStyles>
    <p:titleStyle>
      <a:lvl1pPr algn="l" defTabSz="914400" rtl="0" eaLnBrk="1" latinLnBrk="0" hangingPunct="1">
        <a:lnSpc>
          <a:spcPct val="90000"/>
        </a:lnSpc>
        <a:spcBef>
          <a:spcPct val="0"/>
        </a:spcBef>
        <a:buNone/>
        <a:defRPr sz="32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D321A2-65AC-4C18-CA75-0FB5084CA306}"/>
              </a:ext>
            </a:extLst>
          </p:cNvPr>
          <p:cNvSpPr>
            <a:spLocks noGrp="1"/>
          </p:cNvSpPr>
          <p:nvPr>
            <p:ph type="ctrTitle"/>
          </p:nvPr>
        </p:nvSpPr>
        <p:spPr>
          <a:xfrm>
            <a:off x="457199" y="5121129"/>
            <a:ext cx="11277604" cy="786384"/>
          </a:xfrm>
        </p:spPr>
        <p:txBody>
          <a:bodyPr anchor="b">
            <a:normAutofit/>
          </a:bodyPr>
          <a:lstStyle/>
          <a:p>
            <a:r>
              <a:rPr lang="en-US"/>
              <a:t>Assignment 1</a:t>
            </a:r>
          </a:p>
        </p:txBody>
      </p:sp>
      <p:sp>
        <p:nvSpPr>
          <p:cNvPr id="5" name="Subtitle 4">
            <a:extLst>
              <a:ext uri="{FF2B5EF4-FFF2-40B4-BE49-F238E27FC236}">
                <a16:creationId xmlns:a16="http://schemas.microsoft.com/office/drawing/2014/main" id="{02FA3257-663D-61CE-A5D5-22B53DB71488}"/>
              </a:ext>
            </a:extLst>
          </p:cNvPr>
          <p:cNvSpPr>
            <a:spLocks noGrp="1"/>
          </p:cNvSpPr>
          <p:nvPr>
            <p:ph type="subTitle" idx="1"/>
          </p:nvPr>
        </p:nvSpPr>
        <p:spPr>
          <a:xfrm>
            <a:off x="457198" y="5915481"/>
            <a:ext cx="11277603" cy="480373"/>
          </a:xfrm>
        </p:spPr>
        <p:txBody>
          <a:bodyPr anchor="t">
            <a:normAutofit/>
          </a:bodyPr>
          <a:lstStyle/>
          <a:p>
            <a:r>
              <a:rPr lang="en-US" b="1"/>
              <a:t>PPPE 6354 INFORMATION MANAGEMENT</a:t>
            </a:r>
          </a:p>
        </p:txBody>
      </p:sp>
      <p:pic>
        <p:nvPicPr>
          <p:cNvPr id="8" name="Picture Placeholder 7" descr="A finger touching a screen&#10;&#10;AI-generated content may be incorrect.">
            <a:extLst>
              <a:ext uri="{FF2B5EF4-FFF2-40B4-BE49-F238E27FC236}">
                <a16:creationId xmlns:a16="http://schemas.microsoft.com/office/drawing/2014/main" id="{4E172530-3FAA-8187-453C-DCFCF289E772}"/>
              </a:ext>
            </a:extLst>
          </p:cNvPr>
          <p:cNvPicPr>
            <a:picLocks noGrp="1" noChangeAspect="1"/>
          </p:cNvPicPr>
          <p:nvPr>
            <p:ph type="pic" sz="quarter" idx="13"/>
          </p:nvPr>
        </p:nvPicPr>
        <p:blipFill>
          <a:blip r:embed="rId2"/>
          <a:srcRect t="6673" b="15712"/>
          <a:stretch>
            <a:fillRect/>
          </a:stretch>
        </p:blipFill>
        <p:spPr>
          <a:xfrm>
            <a:off x="1" y="10"/>
            <a:ext cx="12191999" cy="4944341"/>
          </a:xfrm>
          <a:noFill/>
        </p:spPr>
      </p:pic>
      <p:sp>
        <p:nvSpPr>
          <p:cNvPr id="13" name="Date Placeholder 4">
            <a:extLst>
              <a:ext uri="{FF2B5EF4-FFF2-40B4-BE49-F238E27FC236}">
                <a16:creationId xmlns:a16="http://schemas.microsoft.com/office/drawing/2014/main" id="{6DB250B9-E5CC-8B01-9E62-64A64BE24F57}"/>
              </a:ext>
            </a:extLst>
          </p:cNvPr>
          <p:cNvSpPr>
            <a:spLocks noGrp="1"/>
          </p:cNvSpPr>
          <p:nvPr>
            <p:ph type="dt" sz="half" idx="14"/>
          </p:nvPr>
        </p:nvSpPr>
        <p:spPr>
          <a:xfrm>
            <a:off x="457199" y="6397586"/>
            <a:ext cx="4043855" cy="365125"/>
          </a:xfrm>
        </p:spPr>
        <p:txBody>
          <a:bodyPr/>
          <a:lstStyle/>
          <a:p>
            <a:pPr>
              <a:spcAft>
                <a:spcPts val="600"/>
              </a:spcAft>
            </a:pPr>
            <a:fld id="{0A5881F7-61E7-464A-B25B-D06EF371E7BB}" type="datetime1">
              <a:rPr lang="en-US" smtClean="0"/>
              <a:pPr>
                <a:spcAft>
                  <a:spcPts val="600"/>
                </a:spcAft>
              </a:pPr>
              <a:t>2/4/2026</a:t>
            </a:fld>
            <a:endParaRPr lang="en-US"/>
          </a:p>
        </p:txBody>
      </p:sp>
      <p:sp>
        <p:nvSpPr>
          <p:cNvPr id="15" name="Footer Placeholder 5">
            <a:extLst>
              <a:ext uri="{FF2B5EF4-FFF2-40B4-BE49-F238E27FC236}">
                <a16:creationId xmlns:a16="http://schemas.microsoft.com/office/drawing/2014/main" id="{C9CF2089-80D4-A9F6-FFAA-0467C421ED55}"/>
              </a:ext>
            </a:extLst>
          </p:cNvPr>
          <p:cNvSpPr>
            <a:spLocks noGrp="1"/>
          </p:cNvSpPr>
          <p:nvPr>
            <p:ph type="ftr" sz="quarter" idx="15"/>
          </p:nvPr>
        </p:nvSpPr>
        <p:spPr>
          <a:xfrm>
            <a:off x="8324193" y="6397586"/>
            <a:ext cx="3238130" cy="365125"/>
          </a:xfrm>
        </p:spPr>
        <p:txBody>
          <a:bodyPr/>
          <a:lstStyle/>
          <a:p>
            <a:pPr>
              <a:spcAft>
                <a:spcPts val="600"/>
              </a:spcAft>
            </a:pPr>
            <a:r>
              <a:rPr lang="en-US"/>
              <a:t>Sample Footer Text</a:t>
            </a:r>
          </a:p>
        </p:txBody>
      </p:sp>
      <p:sp>
        <p:nvSpPr>
          <p:cNvPr id="17" name="Slide Number Placeholder 6">
            <a:extLst>
              <a:ext uri="{FF2B5EF4-FFF2-40B4-BE49-F238E27FC236}">
                <a16:creationId xmlns:a16="http://schemas.microsoft.com/office/drawing/2014/main" id="{7775157B-75EE-CE1E-361A-CA3B67575823}"/>
              </a:ext>
            </a:extLst>
          </p:cNvPr>
          <p:cNvSpPr>
            <a:spLocks noGrp="1"/>
          </p:cNvSpPr>
          <p:nvPr>
            <p:ph type="sldNum" sz="quarter" idx="16"/>
          </p:nvPr>
        </p:nvSpPr>
        <p:spPr>
          <a:xfrm>
            <a:off x="11562323" y="6397586"/>
            <a:ext cx="530578" cy="365125"/>
          </a:xfrm>
        </p:spPr>
        <p:txBody>
          <a:bodyPr/>
          <a:lstStyle/>
          <a:p>
            <a:pPr>
              <a:spcAft>
                <a:spcPts val="600"/>
              </a:spcAft>
            </a:pPr>
            <a:fld id="{CC057153-B650-4DEB-B370-79DDCFDCE934}" type="slidenum">
              <a:rPr lang="en-US" smtClean="0"/>
              <a:pPr>
                <a:spcAft>
                  <a:spcPts val="600"/>
                </a:spcAft>
              </a:pPr>
              <a:t>1</a:t>
            </a:fld>
            <a:endParaRPr lang="en-US"/>
          </a:p>
        </p:txBody>
      </p:sp>
    </p:spTree>
    <p:extLst>
      <p:ext uri="{BB962C8B-B14F-4D97-AF65-F5344CB8AC3E}">
        <p14:creationId xmlns:p14="http://schemas.microsoft.com/office/powerpoint/2010/main" val="306996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4417" y="4418"/>
            <a:ext cx="12190172" cy="956099"/>
          </a:xfrm>
        </p:spPr>
        <p:txBody>
          <a:bodyPr/>
          <a:lstStyle/>
          <a:p>
            <a:r>
              <a:rPr lang="en-US" sz="2800" b="1">
                <a:solidFill>
                  <a:schemeClr val="tx1"/>
                </a:solidFill>
              </a:rPr>
              <a:t>Question 1. </a:t>
            </a:r>
            <a:r>
              <a:rPr lang="en-US" sz="2800">
                <a:solidFill>
                  <a:schemeClr val="tx1"/>
                </a:solidFill>
                <a:ea typeface="+mj-lt"/>
                <a:cs typeface="+mj-lt"/>
              </a:rPr>
              <a:t>Name and describe three applications you have used that employed a database system to store and access persistent data.</a:t>
            </a:r>
            <a:endParaRPr lang="en-US" sz="2800" b="1">
              <a:solidFill>
                <a:schemeClr val="tx1"/>
              </a:solidFill>
              <a:ea typeface="+mj-lt"/>
              <a:cs typeface="+mj-lt"/>
            </a:endParaRPr>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3"/>
          </p:nvPr>
        </p:nvSpPr>
        <p:spPr>
          <a:xfrm>
            <a:off x="344" y="1244105"/>
            <a:ext cx="12191457" cy="5618969"/>
          </a:xfrm>
        </p:spPr>
        <p:txBody>
          <a:bodyPr vert="horz" lIns="91440" tIns="45720" rIns="91440" bIns="45720" rtlCol="0" anchor="t">
            <a:normAutofit/>
          </a:bodyPr>
          <a:lstStyle/>
          <a:p>
            <a:r>
              <a:rPr lang="en-US" b="1">
                <a:ea typeface="+mn-lt"/>
                <a:cs typeface="+mn-lt"/>
              </a:rPr>
              <a:t>Online Banking Application</a:t>
            </a:r>
            <a:br>
              <a:rPr lang="en-US" b="1">
                <a:ea typeface="+mn-lt"/>
                <a:cs typeface="+mn-lt"/>
              </a:rPr>
            </a:br>
            <a:r>
              <a:rPr lang="en-US" b="1">
                <a:ea typeface="+mn-lt"/>
                <a:cs typeface="+mn-lt"/>
              </a:rPr>
              <a:t> </a:t>
            </a:r>
            <a:r>
              <a:rPr lang="en-US">
                <a:ea typeface="+mn-lt"/>
                <a:cs typeface="+mn-lt"/>
              </a:rPr>
              <a:t>Online banking applications use database systems to store persistent customer data such as account details, transaction history, balances, and user credentials. The database ensures data integrity, supports real-time transaction processing, and allows customers to securely access their financial information at any time. It also enables banks to track transactions, detect fraud, and generate financial reports.</a:t>
            </a:r>
          </a:p>
          <a:p>
            <a:r>
              <a:rPr lang="en-US" b="1">
                <a:ea typeface="+mn-lt"/>
                <a:cs typeface="+mn-lt"/>
              </a:rPr>
              <a:t>E-Commerce / Online Shopping Platform</a:t>
            </a:r>
            <a:br>
              <a:rPr lang="en-US" b="1">
                <a:ea typeface="+mn-lt"/>
                <a:cs typeface="+mn-lt"/>
              </a:rPr>
            </a:br>
            <a:r>
              <a:rPr lang="en-US">
                <a:ea typeface="+mn-lt"/>
                <a:cs typeface="+mn-lt"/>
              </a:rPr>
              <a:t> E-commerce platforms rely heavily on databases to manage product catalogs, customer profiles, orders, payments, and shipping information. The database supports search and filtering of products, order processing, inventory management, and customer purchase history. Persistent data storage allows users to return to their carts, view past orders, and receive personalized recommendations.</a:t>
            </a:r>
            <a:endParaRPr lang="en-US"/>
          </a:p>
        </p:txBody>
      </p:sp>
    </p:spTree>
    <p:extLst>
      <p:ext uri="{BB962C8B-B14F-4D97-AF65-F5344CB8AC3E}">
        <p14:creationId xmlns:p14="http://schemas.microsoft.com/office/powerpoint/2010/main" val="4216523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76C20-EDF5-1379-35DA-624E3A073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536CE-349F-2398-B2D9-78F0388842E4}"/>
              </a:ext>
            </a:extLst>
          </p:cNvPr>
          <p:cNvSpPr>
            <a:spLocks noGrp="1"/>
          </p:cNvSpPr>
          <p:nvPr>
            <p:ph type="title"/>
          </p:nvPr>
        </p:nvSpPr>
        <p:spPr>
          <a:xfrm>
            <a:off x="4417" y="4418"/>
            <a:ext cx="12190172" cy="956099"/>
          </a:xfrm>
        </p:spPr>
        <p:txBody>
          <a:bodyPr/>
          <a:lstStyle/>
          <a:p>
            <a:r>
              <a:rPr lang="en-US" sz="2800" b="1">
                <a:solidFill>
                  <a:schemeClr val="tx1"/>
                </a:solidFill>
              </a:rPr>
              <a:t>Question 1. </a:t>
            </a:r>
            <a:r>
              <a:rPr lang="en-US" sz="2800">
                <a:solidFill>
                  <a:schemeClr val="tx1"/>
                </a:solidFill>
                <a:ea typeface="+mj-lt"/>
                <a:cs typeface="+mj-lt"/>
              </a:rPr>
              <a:t>Name and describe three applications you have used that employed a database system to store and access persistent data.</a:t>
            </a:r>
            <a:endParaRPr lang="en-US" sz="2800" b="1">
              <a:solidFill>
                <a:schemeClr val="tx1"/>
              </a:solidFill>
              <a:ea typeface="+mj-lt"/>
              <a:cs typeface="+mj-lt"/>
            </a:endParaRPr>
          </a:p>
        </p:txBody>
      </p:sp>
      <p:sp>
        <p:nvSpPr>
          <p:cNvPr id="3" name="Content Placeholder 2">
            <a:extLst>
              <a:ext uri="{FF2B5EF4-FFF2-40B4-BE49-F238E27FC236}">
                <a16:creationId xmlns:a16="http://schemas.microsoft.com/office/drawing/2014/main" id="{6CB5EE46-FE6D-8E11-C587-DFD709D2608B}"/>
              </a:ext>
            </a:extLst>
          </p:cNvPr>
          <p:cNvSpPr>
            <a:spLocks noGrp="1"/>
          </p:cNvSpPr>
          <p:nvPr>
            <p:ph sz="quarter" idx="13"/>
          </p:nvPr>
        </p:nvSpPr>
        <p:spPr>
          <a:xfrm>
            <a:off x="344" y="1244105"/>
            <a:ext cx="12191457" cy="5618969"/>
          </a:xfrm>
        </p:spPr>
        <p:txBody>
          <a:bodyPr vert="horz" lIns="91440" tIns="45720" rIns="91440" bIns="45720" rtlCol="0" anchor="t">
            <a:normAutofit/>
          </a:bodyPr>
          <a:lstStyle/>
          <a:p>
            <a:r>
              <a:rPr lang="en-US" b="1">
                <a:ea typeface="+mn-lt"/>
                <a:cs typeface="+mn-lt"/>
              </a:rPr>
              <a:t>University Information System</a:t>
            </a:r>
            <a:br>
              <a:rPr lang="en-US" b="1">
                <a:ea typeface="+mn-lt"/>
                <a:cs typeface="+mn-lt"/>
              </a:rPr>
            </a:br>
            <a:r>
              <a:rPr lang="en-US">
                <a:ea typeface="+mn-lt"/>
                <a:cs typeface="+mn-lt"/>
              </a:rPr>
              <a:t> University systems use databases to store and manage student records, course enrollments, grades, instructor information, and departmental data. The database enables students to register for courses, instructors to submit grades, and administrators to manage academic and financial records. Persistent storage ensures academic data is maintained accurately over many years.</a:t>
            </a:r>
          </a:p>
        </p:txBody>
      </p:sp>
    </p:spTree>
    <p:extLst>
      <p:ext uri="{BB962C8B-B14F-4D97-AF65-F5344CB8AC3E}">
        <p14:creationId xmlns:p14="http://schemas.microsoft.com/office/powerpoint/2010/main" val="1029892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46DEA-F22F-F76A-E67B-20276B9F4B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99C6F-F276-7559-02F3-D882212CA1DF}"/>
              </a:ext>
            </a:extLst>
          </p:cNvPr>
          <p:cNvSpPr>
            <a:spLocks noGrp="1"/>
          </p:cNvSpPr>
          <p:nvPr>
            <p:ph type="title"/>
          </p:nvPr>
        </p:nvSpPr>
        <p:spPr>
          <a:xfrm>
            <a:off x="4417" y="4418"/>
            <a:ext cx="12190172" cy="1022360"/>
          </a:xfrm>
        </p:spPr>
        <p:txBody>
          <a:bodyPr/>
          <a:lstStyle/>
          <a:p>
            <a:r>
              <a:rPr lang="en-US" sz="2800" b="1">
                <a:solidFill>
                  <a:schemeClr val="tx1"/>
                </a:solidFill>
              </a:rPr>
              <a:t>Question 2. </a:t>
            </a:r>
            <a:r>
              <a:rPr lang="en-US" sz="2800">
                <a:solidFill>
                  <a:schemeClr val="tx1"/>
                </a:solidFill>
                <a:ea typeface="+mj-lt"/>
                <a:cs typeface="+mj-lt"/>
              </a:rPr>
              <a:t>Propose three applications in domain projects. Be sure you include Purpose, Functions, and Simple interface design </a:t>
            </a:r>
            <a:endParaRPr lang="en-US" sz="2800" b="1">
              <a:solidFill>
                <a:schemeClr val="tx1"/>
              </a:solidFill>
              <a:ea typeface="+mj-lt"/>
              <a:cs typeface="+mj-lt"/>
            </a:endParaRPr>
          </a:p>
        </p:txBody>
      </p:sp>
      <p:sp>
        <p:nvSpPr>
          <p:cNvPr id="3" name="Content Placeholder 2">
            <a:extLst>
              <a:ext uri="{FF2B5EF4-FFF2-40B4-BE49-F238E27FC236}">
                <a16:creationId xmlns:a16="http://schemas.microsoft.com/office/drawing/2014/main" id="{59A625BD-D5AC-CAB0-B44D-7DEFE67165A9}"/>
              </a:ext>
            </a:extLst>
          </p:cNvPr>
          <p:cNvSpPr>
            <a:spLocks noGrp="1"/>
          </p:cNvSpPr>
          <p:nvPr>
            <p:ph sz="quarter" idx="13"/>
          </p:nvPr>
        </p:nvSpPr>
        <p:spPr>
          <a:xfrm>
            <a:off x="344" y="1244105"/>
            <a:ext cx="12191457" cy="5618969"/>
          </a:xfrm>
        </p:spPr>
        <p:txBody>
          <a:bodyPr vert="horz" lIns="91440" tIns="45720" rIns="91440" bIns="45720" rtlCol="0" anchor="t">
            <a:normAutofit/>
          </a:bodyPr>
          <a:lstStyle/>
          <a:p>
            <a:r>
              <a:rPr lang="en-US" b="1"/>
              <a:t>Public Policy Analysis Database System</a:t>
            </a:r>
            <a:endParaRPr lang="en-US"/>
          </a:p>
          <a:p>
            <a:r>
              <a:rPr lang="en-US" b="1">
                <a:ea typeface="+mn-lt"/>
                <a:cs typeface="+mn-lt"/>
              </a:rPr>
              <a:t>Purpose</a:t>
            </a:r>
            <a:br>
              <a:rPr lang="en-US" b="1">
                <a:ea typeface="+mn-lt"/>
                <a:cs typeface="+mn-lt"/>
              </a:rPr>
            </a:br>
            <a:r>
              <a:rPr lang="en-US" b="1">
                <a:ea typeface="+mn-lt"/>
                <a:cs typeface="+mn-lt"/>
              </a:rPr>
              <a:t> </a:t>
            </a:r>
            <a:r>
              <a:rPr lang="en-US">
                <a:ea typeface="+mn-lt"/>
                <a:cs typeface="+mn-lt"/>
              </a:rPr>
              <a:t>To support policy analysis by storing and organizing data on government policies, programs, budgets, and outcomes across sectors such as education, health, and infrastructure.</a:t>
            </a:r>
          </a:p>
          <a:p>
            <a:r>
              <a:rPr lang="en-US" b="1">
                <a:ea typeface="+mn-lt"/>
                <a:cs typeface="+mn-lt"/>
              </a:rPr>
              <a:t>Functions</a:t>
            </a:r>
            <a:br>
              <a:rPr lang="en-US" b="1">
                <a:ea typeface="+mn-lt"/>
                <a:cs typeface="+mn-lt"/>
              </a:rPr>
            </a:br>
            <a:r>
              <a:rPr lang="en-US">
                <a:ea typeface="+mn-lt"/>
                <a:cs typeface="+mn-lt"/>
              </a:rPr>
              <a:t> The system would store policy documents, implementation timelines, budget allocations, and performance indicators. Users could compare policies across regions or time periods, track policy outcomes, and retrieve data for evaluation and research purposes.</a:t>
            </a:r>
            <a:endParaRPr lang="en-US"/>
          </a:p>
          <a:p>
            <a:r>
              <a:rPr lang="en-US" b="1">
                <a:ea typeface="+mn-lt"/>
                <a:cs typeface="+mn-lt"/>
              </a:rPr>
              <a:t>Simple Interface Design</a:t>
            </a:r>
            <a:br>
              <a:rPr lang="en-US" b="1">
                <a:ea typeface="+mn-lt"/>
                <a:cs typeface="+mn-lt"/>
              </a:rPr>
            </a:br>
            <a:r>
              <a:rPr lang="en-US">
                <a:ea typeface="+mn-lt"/>
                <a:cs typeface="+mn-lt"/>
              </a:rPr>
              <a:t> A dashboard with filters for policy sector, year, and jurisdiction; tables displaying policy details; and basic visual summaries showing policy outcomes and spending trends.</a:t>
            </a:r>
          </a:p>
          <a:p>
            <a:endParaRPr lang="en-US">
              <a:ea typeface="+mn-lt"/>
              <a:cs typeface="+mn-lt"/>
            </a:endParaRPr>
          </a:p>
        </p:txBody>
      </p:sp>
    </p:spTree>
    <p:extLst>
      <p:ext uri="{BB962C8B-B14F-4D97-AF65-F5344CB8AC3E}">
        <p14:creationId xmlns:p14="http://schemas.microsoft.com/office/powerpoint/2010/main" val="2307569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C9986-BA54-3628-C1F2-6C5DCC041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90B18-FB7B-85B4-CF23-0D7A89FA9643}"/>
              </a:ext>
            </a:extLst>
          </p:cNvPr>
          <p:cNvSpPr>
            <a:spLocks noGrp="1"/>
          </p:cNvSpPr>
          <p:nvPr>
            <p:ph type="title"/>
          </p:nvPr>
        </p:nvSpPr>
        <p:spPr>
          <a:xfrm>
            <a:off x="4417" y="4418"/>
            <a:ext cx="12190172" cy="956099"/>
          </a:xfrm>
        </p:spPr>
        <p:txBody>
          <a:bodyPr/>
          <a:lstStyle/>
          <a:p>
            <a:r>
              <a:rPr lang="en-US" sz="2800" b="1">
                <a:solidFill>
                  <a:schemeClr val="tx1"/>
                </a:solidFill>
              </a:rPr>
              <a:t>Question 2. </a:t>
            </a:r>
            <a:r>
              <a:rPr lang="en-US" sz="2800">
                <a:solidFill>
                  <a:schemeClr val="tx1"/>
                </a:solidFill>
                <a:ea typeface="+mj-lt"/>
                <a:cs typeface="+mj-lt"/>
              </a:rPr>
              <a:t>Propose three applications in domain projects. Be sure you include Purpose, Functions, and Simple interface design </a:t>
            </a:r>
            <a:endParaRPr lang="en-US" sz="2800" b="1">
              <a:solidFill>
                <a:schemeClr val="tx1"/>
              </a:solidFill>
              <a:ea typeface="+mj-lt"/>
              <a:cs typeface="+mj-lt"/>
            </a:endParaRPr>
          </a:p>
        </p:txBody>
      </p:sp>
      <p:sp>
        <p:nvSpPr>
          <p:cNvPr id="3" name="Content Placeholder 2">
            <a:extLst>
              <a:ext uri="{FF2B5EF4-FFF2-40B4-BE49-F238E27FC236}">
                <a16:creationId xmlns:a16="http://schemas.microsoft.com/office/drawing/2014/main" id="{9B60F479-0C9C-0457-DC74-01DE76DF8ABE}"/>
              </a:ext>
            </a:extLst>
          </p:cNvPr>
          <p:cNvSpPr>
            <a:spLocks noGrp="1"/>
          </p:cNvSpPr>
          <p:nvPr>
            <p:ph sz="quarter" idx="13"/>
          </p:nvPr>
        </p:nvSpPr>
        <p:spPr>
          <a:xfrm>
            <a:off x="344" y="1244105"/>
            <a:ext cx="12191457" cy="5618969"/>
          </a:xfrm>
        </p:spPr>
        <p:txBody>
          <a:bodyPr vert="horz" lIns="91440" tIns="45720" rIns="91440" bIns="45720" rtlCol="0" anchor="t">
            <a:normAutofit/>
          </a:bodyPr>
          <a:lstStyle/>
          <a:p>
            <a:r>
              <a:rPr lang="en-US" b="1"/>
              <a:t>Political Economy Research Database</a:t>
            </a:r>
            <a:endParaRPr lang="en-US"/>
          </a:p>
          <a:p>
            <a:r>
              <a:rPr lang="en-US" b="1">
                <a:ea typeface="+mn-lt"/>
                <a:cs typeface="+mn-lt"/>
              </a:rPr>
              <a:t>Purpose</a:t>
            </a:r>
            <a:br>
              <a:rPr lang="en-US" b="1">
                <a:ea typeface="+mn-lt"/>
                <a:cs typeface="+mn-lt"/>
              </a:rPr>
            </a:br>
            <a:r>
              <a:rPr lang="en-US">
                <a:ea typeface="+mn-lt"/>
                <a:cs typeface="+mn-lt"/>
              </a:rPr>
              <a:t> To analyze the interaction between political institutions and economic outcomes such as growth, inequality, and public spending.</a:t>
            </a:r>
          </a:p>
          <a:p>
            <a:r>
              <a:rPr lang="en-US" b="1">
                <a:ea typeface="+mn-lt"/>
                <a:cs typeface="+mn-lt"/>
              </a:rPr>
              <a:t>Functions</a:t>
            </a:r>
            <a:br>
              <a:rPr lang="en-US" b="1">
                <a:ea typeface="+mn-lt"/>
                <a:cs typeface="+mn-lt"/>
              </a:rPr>
            </a:br>
            <a:r>
              <a:rPr lang="en-US" b="1">
                <a:ea typeface="+mn-lt"/>
                <a:cs typeface="+mn-lt"/>
              </a:rPr>
              <a:t> </a:t>
            </a:r>
            <a:r>
              <a:rPr lang="en-US">
                <a:ea typeface="+mn-lt"/>
                <a:cs typeface="+mn-lt"/>
              </a:rPr>
              <a:t>The application would store data on political variables (elections, party control, governance indicators) alongside economic data (GDP, employment, inflation). It would allow users to run comparative queries across countries or regions and examine relationships between political and economic variables.</a:t>
            </a:r>
            <a:endParaRPr lang="en-US"/>
          </a:p>
          <a:p>
            <a:r>
              <a:rPr lang="en-US" b="1">
                <a:ea typeface="+mn-lt"/>
                <a:cs typeface="+mn-lt"/>
              </a:rPr>
              <a:t>Simple Interface Design</a:t>
            </a:r>
            <a:br>
              <a:rPr lang="en-US" b="1">
                <a:ea typeface="+mn-lt"/>
                <a:cs typeface="+mn-lt"/>
              </a:rPr>
            </a:br>
            <a:r>
              <a:rPr lang="en-US">
                <a:ea typeface="+mn-lt"/>
                <a:cs typeface="+mn-lt"/>
              </a:rPr>
              <a:t> An interface with dropdown menus for country and year selection, linked tables for political and economic indicators, and visualization panels for trend and comparison charts.</a:t>
            </a:r>
          </a:p>
          <a:p>
            <a:endParaRPr lang="en-US">
              <a:ea typeface="+mn-lt"/>
              <a:cs typeface="+mn-lt"/>
            </a:endParaRPr>
          </a:p>
        </p:txBody>
      </p:sp>
    </p:spTree>
    <p:extLst>
      <p:ext uri="{BB962C8B-B14F-4D97-AF65-F5344CB8AC3E}">
        <p14:creationId xmlns:p14="http://schemas.microsoft.com/office/powerpoint/2010/main" val="3214433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4707-87B4-9E0F-1446-642625BC80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0C0E9-3DE2-8E0B-44BB-150A0B000928}"/>
              </a:ext>
            </a:extLst>
          </p:cNvPr>
          <p:cNvSpPr>
            <a:spLocks noGrp="1"/>
          </p:cNvSpPr>
          <p:nvPr>
            <p:ph type="title"/>
          </p:nvPr>
        </p:nvSpPr>
        <p:spPr>
          <a:xfrm>
            <a:off x="4417" y="4418"/>
            <a:ext cx="12190172" cy="956099"/>
          </a:xfrm>
        </p:spPr>
        <p:txBody>
          <a:bodyPr/>
          <a:lstStyle/>
          <a:p>
            <a:r>
              <a:rPr lang="en-US" sz="2800" b="1">
                <a:solidFill>
                  <a:schemeClr val="tx1"/>
                </a:solidFill>
              </a:rPr>
              <a:t>Question 2. </a:t>
            </a:r>
            <a:r>
              <a:rPr lang="en-US" sz="2800">
                <a:solidFill>
                  <a:schemeClr val="tx1"/>
                </a:solidFill>
                <a:ea typeface="+mj-lt"/>
                <a:cs typeface="+mj-lt"/>
              </a:rPr>
              <a:t>Propose three applications in domain projects. Be sure you include Purpose, Functions, and Simple interface design </a:t>
            </a:r>
            <a:endParaRPr lang="en-US" sz="2800" b="1">
              <a:solidFill>
                <a:schemeClr val="tx1"/>
              </a:solidFill>
              <a:ea typeface="+mj-lt"/>
              <a:cs typeface="+mj-lt"/>
            </a:endParaRPr>
          </a:p>
        </p:txBody>
      </p:sp>
      <p:sp>
        <p:nvSpPr>
          <p:cNvPr id="3" name="Content Placeholder 2">
            <a:extLst>
              <a:ext uri="{FF2B5EF4-FFF2-40B4-BE49-F238E27FC236}">
                <a16:creationId xmlns:a16="http://schemas.microsoft.com/office/drawing/2014/main" id="{B90FF131-90EB-6F7B-6112-F715C776AB1B}"/>
              </a:ext>
            </a:extLst>
          </p:cNvPr>
          <p:cNvSpPr>
            <a:spLocks noGrp="1"/>
          </p:cNvSpPr>
          <p:nvPr>
            <p:ph sz="quarter" idx="13"/>
          </p:nvPr>
        </p:nvSpPr>
        <p:spPr>
          <a:xfrm>
            <a:off x="344" y="1244105"/>
            <a:ext cx="12191457" cy="5618969"/>
          </a:xfrm>
        </p:spPr>
        <p:txBody>
          <a:bodyPr vert="horz" lIns="91440" tIns="45720" rIns="91440" bIns="45720" rtlCol="0" anchor="t">
            <a:normAutofit/>
          </a:bodyPr>
          <a:lstStyle/>
          <a:p>
            <a:r>
              <a:rPr lang="en-US" b="1"/>
              <a:t>Criminology Data Management System</a:t>
            </a:r>
            <a:endParaRPr lang="en-US"/>
          </a:p>
          <a:p>
            <a:r>
              <a:rPr lang="en-US" b="1">
                <a:ea typeface="+mn-lt"/>
                <a:cs typeface="+mn-lt"/>
              </a:rPr>
              <a:t>Purpose</a:t>
            </a:r>
            <a:br>
              <a:rPr lang="en-US" b="1">
                <a:ea typeface="+mn-lt"/>
                <a:cs typeface="+mn-lt"/>
              </a:rPr>
            </a:br>
            <a:r>
              <a:rPr lang="en-US">
                <a:ea typeface="+mn-lt"/>
                <a:cs typeface="+mn-lt"/>
              </a:rPr>
              <a:t> To support crime analysis and criminal justice research by storing and analyzing crime records, offenders, locations, and investigation outcomes.</a:t>
            </a:r>
          </a:p>
          <a:p>
            <a:r>
              <a:rPr lang="en-US" b="1">
                <a:ea typeface="+mn-lt"/>
                <a:cs typeface="+mn-lt"/>
              </a:rPr>
              <a:t>Functions</a:t>
            </a:r>
            <a:br>
              <a:rPr lang="en-US" b="1">
                <a:ea typeface="+mn-lt"/>
                <a:cs typeface="+mn-lt"/>
              </a:rPr>
            </a:br>
            <a:r>
              <a:rPr lang="en-US">
                <a:ea typeface="+mn-lt"/>
                <a:cs typeface="+mn-lt"/>
              </a:rPr>
              <a:t> The system would allow users to record crime incidents, link suspects to cases, track case status, and analyze crime trends over time and across locations. It would support querying by crime type, date, and area, and generate summary statistics for research and policy analysis.</a:t>
            </a:r>
          </a:p>
          <a:p>
            <a:r>
              <a:rPr lang="en-US" b="1">
                <a:ea typeface="+mn-lt"/>
                <a:cs typeface="+mn-lt"/>
              </a:rPr>
              <a:t>Simple Interface Design</a:t>
            </a:r>
            <a:br>
              <a:rPr lang="en-US" b="1">
                <a:ea typeface="+mn-lt"/>
                <a:cs typeface="+mn-lt"/>
              </a:rPr>
            </a:br>
            <a:r>
              <a:rPr lang="en-US">
                <a:ea typeface="+mn-lt"/>
                <a:cs typeface="+mn-lt"/>
              </a:rPr>
              <a:t> A dashboard with a search bar for incidents, filters for crime type and date, a form to enter new crime records, and basic charts showing crime trends and hotspots.</a:t>
            </a:r>
          </a:p>
          <a:p>
            <a:endParaRPr lang="en-US" b="1">
              <a:ea typeface="+mn-lt"/>
              <a:cs typeface="+mn-lt"/>
            </a:endParaRPr>
          </a:p>
          <a:p>
            <a:endParaRPr lang="en-US">
              <a:ea typeface="+mn-lt"/>
              <a:cs typeface="+mn-lt"/>
            </a:endParaRPr>
          </a:p>
        </p:txBody>
      </p:sp>
    </p:spTree>
    <p:extLst>
      <p:ext uri="{BB962C8B-B14F-4D97-AF65-F5344CB8AC3E}">
        <p14:creationId xmlns:p14="http://schemas.microsoft.com/office/powerpoint/2010/main" val="2770214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D160-DED1-0FD4-D2F8-1D6A9C77E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FAFE4-AB13-3802-6B32-6B8B59F9E317}"/>
              </a:ext>
            </a:extLst>
          </p:cNvPr>
          <p:cNvSpPr>
            <a:spLocks noGrp="1"/>
          </p:cNvSpPr>
          <p:nvPr>
            <p:ph type="title"/>
          </p:nvPr>
        </p:nvSpPr>
        <p:spPr>
          <a:xfrm>
            <a:off x="4417" y="4418"/>
            <a:ext cx="12190172" cy="956099"/>
          </a:xfrm>
        </p:spPr>
        <p:txBody>
          <a:bodyPr/>
          <a:lstStyle/>
          <a:p>
            <a:r>
              <a:rPr lang="en-US" sz="2800" b="1">
                <a:solidFill>
                  <a:schemeClr val="tx1"/>
                </a:solidFill>
              </a:rPr>
              <a:t>Question 6.</a:t>
            </a:r>
            <a:r>
              <a:rPr lang="en-US" sz="2800" b="1">
                <a:solidFill>
                  <a:schemeClr val="tx1"/>
                </a:solidFill>
                <a:ea typeface="+mj-lt"/>
                <a:cs typeface="+mj-lt"/>
              </a:rPr>
              <a:t> </a:t>
            </a:r>
            <a:r>
              <a:rPr lang="en-US" sz="2800">
                <a:solidFill>
                  <a:schemeClr val="tx1"/>
                </a:solidFill>
                <a:ea typeface="+mj-lt"/>
                <a:cs typeface="+mj-lt"/>
              </a:rPr>
              <a:t>Describe at least three tables that might be used to store information in a social-network/social media system such as Twitter.</a:t>
            </a:r>
            <a:endParaRPr lang="en-US" sz="2800" b="1">
              <a:solidFill>
                <a:schemeClr val="tx1"/>
              </a:solidFill>
              <a:ea typeface="+mj-lt"/>
              <a:cs typeface="+mj-lt"/>
            </a:endParaRPr>
          </a:p>
        </p:txBody>
      </p:sp>
      <p:sp>
        <p:nvSpPr>
          <p:cNvPr id="3" name="Content Placeholder 2">
            <a:extLst>
              <a:ext uri="{FF2B5EF4-FFF2-40B4-BE49-F238E27FC236}">
                <a16:creationId xmlns:a16="http://schemas.microsoft.com/office/drawing/2014/main" id="{638F5DFF-713D-5881-B575-6AF81FAC3CF5}"/>
              </a:ext>
            </a:extLst>
          </p:cNvPr>
          <p:cNvSpPr>
            <a:spLocks noGrp="1"/>
          </p:cNvSpPr>
          <p:nvPr>
            <p:ph sz="quarter" idx="13"/>
          </p:nvPr>
        </p:nvSpPr>
        <p:spPr>
          <a:xfrm>
            <a:off x="344" y="1244105"/>
            <a:ext cx="12191457" cy="5618969"/>
          </a:xfrm>
        </p:spPr>
        <p:txBody>
          <a:bodyPr vert="horz" lIns="91440" tIns="45720" rIns="91440" bIns="45720" rtlCol="0" anchor="t">
            <a:normAutofit lnSpcReduction="10000"/>
          </a:bodyPr>
          <a:lstStyle/>
          <a:p>
            <a:r>
              <a:rPr lang="en-US" b="1"/>
              <a:t>Posts (Tweets) Table</a:t>
            </a:r>
            <a:endParaRPr lang="en-US"/>
          </a:p>
          <a:p>
            <a:pPr marL="0" indent="0">
              <a:buNone/>
            </a:pPr>
            <a:r>
              <a:rPr lang="en-US">
                <a:ea typeface="+mn-lt"/>
                <a:cs typeface="+mn-lt"/>
              </a:rPr>
              <a:t>This table stores all tweets created on the platform. Each record represents a single tweet and includes attributes such as a unique tweet ID, user ID (foreign key), tweet content, timestamp, and engagement counts (likes, retweets). The table allows Twitter to display tweets in user timelines and track content activity over time.</a:t>
            </a:r>
          </a:p>
          <a:p>
            <a:r>
              <a:rPr lang="en-US" b="1"/>
              <a:t>Replies Table</a:t>
            </a:r>
            <a:endParaRPr lang="en-US"/>
          </a:p>
          <a:p>
            <a:pPr marL="0" indent="0">
              <a:buNone/>
            </a:pPr>
            <a:r>
              <a:rPr lang="en-US">
                <a:ea typeface="+mn-lt"/>
                <a:cs typeface="+mn-lt"/>
              </a:rPr>
              <a:t>The replies table stores responses to tweets. It includes a reply ID, tweet ID (foreign key), user ID (foreign key), reply text, and timestamp. This table enables conversation threads by linking replies directly to the original tweets and the users who posted them.</a:t>
            </a:r>
            <a:endParaRPr lang="en-US"/>
          </a:p>
          <a:p>
            <a:r>
              <a:rPr lang="en-US" b="1"/>
              <a:t>Followers Table</a:t>
            </a:r>
            <a:endParaRPr lang="en-US"/>
          </a:p>
          <a:p>
            <a:pPr marL="0" indent="0">
              <a:buNone/>
            </a:pPr>
            <a:r>
              <a:rPr lang="en-US">
                <a:ea typeface="+mn-lt"/>
                <a:cs typeface="+mn-lt"/>
              </a:rPr>
              <a:t>This table manages the follower–following relationships between users. Attributes include follower ID, followed user ID, and follow date. The table is essential for building personalized timelines by determining which tweets appear in a user’s feed.</a:t>
            </a:r>
          </a:p>
          <a:p>
            <a:endParaRPr lang="en-US">
              <a:ea typeface="+mn-lt"/>
              <a:cs typeface="+mn-lt"/>
            </a:endParaRPr>
          </a:p>
        </p:txBody>
      </p:sp>
    </p:spTree>
    <p:extLst>
      <p:ext uri="{BB962C8B-B14F-4D97-AF65-F5344CB8AC3E}">
        <p14:creationId xmlns:p14="http://schemas.microsoft.com/office/powerpoint/2010/main" val="315520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A0E7B-8EFD-B437-89BF-9FC2A42CF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98E5E-DA02-5398-C80E-1E31DB766A07}"/>
              </a:ext>
            </a:extLst>
          </p:cNvPr>
          <p:cNvSpPr>
            <a:spLocks noGrp="1"/>
          </p:cNvSpPr>
          <p:nvPr>
            <p:ph type="title"/>
          </p:nvPr>
        </p:nvSpPr>
        <p:spPr>
          <a:xfrm>
            <a:off x="4417" y="4418"/>
            <a:ext cx="12190172" cy="713143"/>
          </a:xfrm>
        </p:spPr>
        <p:txBody>
          <a:bodyPr/>
          <a:lstStyle/>
          <a:p>
            <a:r>
              <a:rPr lang="en-US" sz="2800" b="1">
                <a:solidFill>
                  <a:schemeClr val="tx1"/>
                </a:solidFill>
              </a:rPr>
              <a:t>Question 5. </a:t>
            </a:r>
            <a:r>
              <a:rPr lang="en-US" sz="2800">
                <a:solidFill>
                  <a:schemeClr val="tx1"/>
                </a:solidFill>
                <a:ea typeface="+mj-lt"/>
                <a:cs typeface="+mj-lt"/>
              </a:rPr>
              <a:t>What are the things current database system cannot do? </a:t>
            </a:r>
            <a:endParaRPr lang="en-US" sz="2800" b="1">
              <a:solidFill>
                <a:schemeClr val="tx1"/>
              </a:solidFill>
              <a:ea typeface="+mj-lt"/>
              <a:cs typeface="+mj-lt"/>
            </a:endParaRPr>
          </a:p>
        </p:txBody>
      </p:sp>
      <p:sp>
        <p:nvSpPr>
          <p:cNvPr id="3" name="Content Placeholder 2">
            <a:extLst>
              <a:ext uri="{FF2B5EF4-FFF2-40B4-BE49-F238E27FC236}">
                <a16:creationId xmlns:a16="http://schemas.microsoft.com/office/drawing/2014/main" id="{238846B2-E6BF-6AEB-CE98-BCB9304E16B4}"/>
              </a:ext>
            </a:extLst>
          </p:cNvPr>
          <p:cNvSpPr>
            <a:spLocks noGrp="1"/>
          </p:cNvSpPr>
          <p:nvPr>
            <p:ph sz="quarter" idx="13"/>
          </p:nvPr>
        </p:nvSpPr>
        <p:spPr>
          <a:xfrm>
            <a:off x="344" y="857584"/>
            <a:ext cx="12191457" cy="6005490"/>
          </a:xfrm>
        </p:spPr>
        <p:txBody>
          <a:bodyPr vert="horz" lIns="91440" tIns="45720" rIns="91440" bIns="45720" rtlCol="0" anchor="t">
            <a:normAutofit/>
          </a:bodyPr>
          <a:lstStyle/>
          <a:p>
            <a:r>
              <a:rPr lang="en-US">
                <a:ea typeface="+mn-lt"/>
                <a:cs typeface="+mn-lt"/>
              </a:rPr>
              <a:t>Despite their efficiency and reliability, current database systems have important limitations. Traditional databases are designed primarily for structured data and predefined schemas, making them less effective at handling unstructured or semi-structured data such as text, images, audio, and video without additional processing tools. They store such data but cannot inherently interpret meaning or context.</a:t>
            </a:r>
          </a:p>
          <a:p>
            <a:r>
              <a:rPr lang="en-US">
                <a:ea typeface="+mn-lt"/>
                <a:cs typeface="+mn-lt"/>
              </a:rPr>
              <a:t>Database systems also lack the ability to reason, infer causality, or generate insights on their own. They depend entirely on user-defined queries and rules, meaning they cannot automatically identify significant patterns or make predictions without integration with data mining or machine learning techniques. Furthermore, databases cannot adapt intelligently to new or evolving data patterns; any changes require schema redesigns or external analytical systems.</a:t>
            </a:r>
          </a:p>
          <a:p>
            <a:r>
              <a:rPr lang="en-US">
                <a:ea typeface="+mn-lt"/>
                <a:cs typeface="+mn-lt"/>
              </a:rPr>
              <a:t>In summary, database systems excel at data storage, consistency, and retrieval, but they cannot understand data, learn from it, or make intelligent decisions without support from advanced analytical and artificial intelligence tools.</a:t>
            </a:r>
          </a:p>
          <a:p>
            <a:endParaRPr lang="en-US">
              <a:ea typeface="+mn-lt"/>
              <a:cs typeface="+mn-lt"/>
            </a:endParaRPr>
          </a:p>
        </p:txBody>
      </p:sp>
    </p:spTree>
    <p:extLst>
      <p:ext uri="{BB962C8B-B14F-4D97-AF65-F5344CB8AC3E}">
        <p14:creationId xmlns:p14="http://schemas.microsoft.com/office/powerpoint/2010/main" val="996916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2F8EAF-D9DE-9FD3-ED83-7032E7D7FC06}"/>
              </a:ext>
            </a:extLst>
          </p:cNvPr>
          <p:cNvSpPr>
            <a:spLocks noGrp="1"/>
          </p:cNvSpPr>
          <p:nvPr>
            <p:ph type="title"/>
          </p:nvPr>
        </p:nvSpPr>
        <p:spPr>
          <a:xfrm>
            <a:off x="457200" y="1001111"/>
            <a:ext cx="8430767" cy="2940268"/>
          </a:xfrm>
        </p:spPr>
        <p:txBody>
          <a:bodyPr/>
          <a:lstStyle/>
          <a:p>
            <a:r>
              <a:rPr lang="en-US"/>
              <a:t>Conclusion </a:t>
            </a:r>
          </a:p>
        </p:txBody>
      </p:sp>
    </p:spTree>
    <p:extLst>
      <p:ext uri="{BB962C8B-B14F-4D97-AF65-F5344CB8AC3E}">
        <p14:creationId xmlns:p14="http://schemas.microsoft.com/office/powerpoint/2010/main" val="2651058474"/>
      </p:ext>
    </p:extLst>
  </p:cSld>
  <p:clrMapOvr>
    <a:masterClrMapping/>
  </p:clrMapOvr>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_win32_DN_V2" id="{35DA499A-085A-4E3E-92EC-48B4922E938B}" vid="{14DDC8D4-282F-4E4E-AFE2-B9DA7AC991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8AB7D1-0FFB-46E5-B5E0-44DC74B128BD}">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9D6869B1-BDCE-49F8-A5AF-3EA6FB3BB224}">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DD6D019-CFF4-4D8F-9084-1FF56D30795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Bevel</vt:lpstr>
      <vt:lpstr>Assignment 1</vt:lpstr>
      <vt:lpstr>Question 1. Name and describe three applications you have used that employed a database system to store and access persistent data.</vt:lpstr>
      <vt:lpstr>Question 1. Name and describe three applications you have used that employed a database system to store and access persistent data.</vt:lpstr>
      <vt:lpstr>Question 2. Propose three applications in domain projects. Be sure you include Purpose, Functions, and Simple interface design </vt:lpstr>
      <vt:lpstr>Question 2. Propose three applications in domain projects. Be sure you include Purpose, Functions, and Simple interface design </vt:lpstr>
      <vt:lpstr>Question 2. Propose three applications in domain projects. Be sure you include Purpose, Functions, and Simple interface design </vt:lpstr>
      <vt:lpstr>Question 6. Describe at least three tables that might be used to store information in a social-network/social media system such as Twitter.</vt:lpstr>
      <vt:lpstr>Question 5. What are the things current database system cannot do?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2026-02-04T16:37:23Z</dcterms:created>
  <dcterms:modified xsi:type="dcterms:W3CDTF">2026-02-04T18:14:08Z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